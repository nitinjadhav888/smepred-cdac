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SVR (paper baseline)</c:v>
                </c:pt>
              </c:strCache>
            </c:strRef>
          </c:tx>
          <c:spPr>
            <a:solidFill>
              <a:srgbClr val="E257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Modification ranking</c:v>
                  </c:pt>
                  <c:pt idx="1">
                    <c:v>Naked siRNA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0.37</c:v>
                </c:pt>
                <c:pt idx="1">
                  <c:v>0.21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LightGBM + OligoFormer data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Modification ranking</c:v>
                  </c:pt>
                  <c:pt idx="1">
                    <c:v>Naked siRNA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0.68</c:v>
                </c:pt>
                <c:pt idx="1">
                  <c:v>0.42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FE0E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1C3B5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FE0E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0B223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FE0E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2239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"Good morning. I'm presenting SMEpred — an AI tool that predicts how well a</a:t>
            </a:r>
          </a:p>
          <a:p>
            <a:r>
              <a:t>gene-silencing drug will work, before anyone touches a test tube."</a:t>
            </a:r>
          </a:p>
          <a:p/>
          <a:p>
            <a:r>
              <a:t>SMEpred = siRNA Modification Efficacy Predictor. Built during my C-DAC Pune internship.</a:t>
            </a:r>
          </a:p>
          <a:p>
            <a:r>
              <a:t>In 15 minutes: the problem, how it works, real measured results, what's next.</a:t>
            </a:r>
          </a:p>
          <a:p/>
          <a:p>
            <a:r>
              <a:t>ANALOGY: Like Google Maps for drug designers — ask the app which route is fastest, then</a:t>
            </a:r>
          </a:p>
          <a:p>
            <a:r>
              <a:t>drive.</a:t>
            </a:r>
          </a:p>
          <a:p/>
          <a:p>
            <a:r>
              <a:t>TRANSITION: "Let's start with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"Many diseases start with one bad gene that won't shut up."</a:t>
            </a:r>
          </a:p>
          <a:p/>
          <a:p>
            <a:r>
              <a:t>Genes make proteins. Bad gene → harmful protein → cancer, high cholesterol, viral disease.</a:t>
            </a:r>
          </a:p>
          <a:p>
            <a:r>
              <a:t>siRNA is a 21-letter molecule that silences ONE specific gene — a programmable off-switch.</a:t>
            </a:r>
          </a:p>
          <a:p>
            <a:r>
              <a:t>But raw siRNA is destroyed in minutes by blood enzymes, triggers immune alarms, and never</a:t>
            </a:r>
          </a:p>
          <a:p>
            <a:r>
              <a:t>reaches the target. It needs chemical "armor" — modifications.</a:t>
            </a:r>
          </a:p>
          <a:p/>
          <a:p>
            <a:r>
              <a:t>KEY STAT (point at the right panel): 1,260 possible chemical modifications per siRNA.</a:t>
            </a:r>
          </a:p>
          <a:p>
            <a:r>
              <a:t>Testing each in the lab costs months and lakhs of rupees.</a:t>
            </a:r>
          </a:p>
          <a:p/>
          <a:p>
            <a:r>
              <a:t>ANALOGY: Like designing a phone case — 1,260 material × shape combos. You can't physically</a:t>
            </a:r>
          </a:p>
          <a:p>
            <a:r>
              <a:t>test all of them. You need a simulator that says: top 5 worth manufacturing.</a:t>
            </a:r>
          </a:p>
          <a:p/>
          <a:p>
            <a:r>
              <a:t>TRANSITION: "Here's an analogy that makes it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"Think of an siRNA drug as a guided missile."</a:t>
            </a:r>
          </a:p>
          <a:p/>
          <a:p>
            <a:r>
              <a:t>- Antisense strand = GPS — locks onto the exact mRNA target out of 20,000 genes.</a:t>
            </a:r>
          </a:p>
          <a:p>
            <a:r>
              <a:t>- Modifications = armor plating — protect the missile from being shot down mid-flight.</a:t>
            </a:r>
          </a:p>
          <a:p>
            <a:r>
              <a:t>- SMEpred = war-room simulator — predicts which armor design hits the target hardest,</a:t>
            </a:r>
          </a:p>
          <a:p>
            <a:r>
              <a:t>  BEFORE you build 1,260 missiles.</a:t>
            </a:r>
          </a:p>
          <a:p/>
          <a:p>
            <a:r>
              <a:t>ANALOGY: Indian Air Force engineers don't physically build every missile variant. They</a:t>
            </a:r>
          </a:p>
          <a:p>
            <a:r>
              <a:t>simulate, pick the top three, then build the real thing. SMEpred is that simulator for</a:t>
            </a:r>
          </a:p>
          <a:p>
            <a:r>
              <a:t>medicine.</a:t>
            </a:r>
          </a:p>
          <a:p/>
          <a:p>
            <a:r>
              <a:t>TRANSITION: "So what does it actually do?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Read the big blue banner — slowly.</a:t>
            </a:r>
          </a:p>
          <a:p/>
          <a:p>
            <a:r>
              <a:t>Two related jobs, with two ML models behind the scenes:</a:t>
            </a:r>
          </a:p>
          <a:p>
            <a:r>
              <a:t>1. NAKED EFFICACY — given a gene, find the best unmodified siRNA sequence.</a:t>
            </a:r>
          </a:p>
          <a:p>
            <a:r>
              <a:t>2. MODIFIED EFFICACY — given a chosen siRNA, find the chemical tweak that makes it the</a:t>
            </a:r>
          </a:p>
          <a:p>
            <a:r>
              <a:t>   strongest drug.</a:t>
            </a:r>
          </a:p>
          <a:p>
            <a:r>
              <a:t>3. ENSEMBLE — for naked siRNAs, our LightGBM AND the OligoFormer transformer both score</a:t>
            </a:r>
          </a:p>
          <a:p>
            <a:r>
              <a:t>   the candidates and we cross-validate (top picks must agree on both).</a:t>
            </a:r>
          </a:p>
          <a:p>
            <a:r>
              <a:t>4. SAFETY — every candidate also gets a seed-toxicity check from a published lookup</a:t>
            </a:r>
          </a:p>
          <a:p>
            <a:r>
              <a:t>   table, and modifications can RESCUE a toxic seed (e.g. 2'-OMe at antisense pos 2).</a:t>
            </a:r>
          </a:p>
          <a:p/>
          <a:p>
            <a:r>
              <a:t>ANALOGY: A chef has two skills — pick the right base recipe (naked siRNA), then pick the</a:t>
            </a:r>
          </a:p>
          <a:p>
            <a:r>
              <a:t>spice that makes it irresistible (modification). SMEpred does both, and runs every dish</a:t>
            </a:r>
          </a:p>
          <a:p>
            <a:r>
              <a:t>past TWO judges instead of one.</a:t>
            </a:r>
          </a:p>
          <a:p/>
          <a:p>
            <a:r>
              <a:t>TRANSITION: "Here's how that flows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"The whole app is one funnel — four steps from a gene to a drug candidate."</a:t>
            </a:r>
          </a:p>
          <a:p/>
          <a:p>
            <a:r>
              <a:t>1. Paste a gene (1,000–10,000 letters of mRNA).</a:t>
            </a:r>
          </a:p>
          <a:p>
            <a:r>
              <a:t>2. RANK tab — score every 21-letter window, rank, show best naked siRNA candidates.</a:t>
            </a:r>
          </a:p>
          <a:p>
            <a:r>
              <a:t>3. SINGLE-MOD SCAN — pick the top siRNA; model scans all 1,260 modifications and ranks</a:t>
            </a:r>
          </a:p>
          <a:p>
            <a:r>
              <a:t>   them by predicted efficacy gain.</a:t>
            </a:r>
          </a:p>
          <a:p>
            <a:r>
              <a:t>4. MULTI-MOD DESIGN — design a custom drug with multiple mods; model scores it.</a:t>
            </a:r>
          </a:p>
          <a:p/>
          <a:p>
            <a:r>
              <a:t>FIX SHIPPED (bottom banner): Earlier users had to copy-paste the siRNA between tabs.</a:t>
            </a:r>
          </a:p>
          <a:p>
            <a:r>
              <a:t>Now each ranked row has a "Modify →" button that auto-fills the next tab. One click.</a:t>
            </a:r>
          </a:p>
          <a:p/>
          <a:p>
            <a:r>
              <a:t>ANALOGY: Like Amazon — search a product, click "Buy Now", address &amp; payment auto-fill.</a:t>
            </a:r>
          </a:p>
          <a:p/>
          <a:p>
            <a:r>
              <a:t>TRANSITION: "Now, under the 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"Five clean layers — data, features, two models, serving."</a:t>
            </a:r>
          </a:p>
          <a:p/>
          <a:p>
            <a:r>
              <a:t>- DATA: parses HelixZero 43k patent catalog + OligoFormer's Huesken/Mix/Taka sets +</a:t>
            </a:r>
          </a:p>
          <a:p>
            <a:r>
              <a:t>  siRNAmod into clean CSVs.</a:t>
            </a:r>
          </a:p>
          <a:p>
            <a:r>
              <a:t>- FEATURES: turns each siRNA into a 152-number vector the model can read.</a:t>
            </a:r>
          </a:p>
          <a:p>
            <a:r>
              <a:t>- MODEL A (ours): LightGBM gradient-boosted-tree regressor — predicts % inhibition.</a:t>
            </a:r>
          </a:p>
          <a:p>
            <a:r>
              <a:t>- MODEL B (vendored): OligoFormer transformer + RNA-FM foundation model — predicts</a:t>
            </a:r>
          </a:p>
          <a:p>
            <a:r>
              <a:t>  activity probability. Re-ranks the top 50 picks from Model A.</a:t>
            </a:r>
          </a:p>
          <a:p>
            <a:r>
              <a:t>- SERVE: FastAPI REST + single-file HTML web app. Browser-only, no setup.</a:t>
            </a:r>
          </a:p>
          <a:p/>
          <a:p>
            <a:r>
              <a:t>ANALOGY: A car factory — raw steel (data) → stamping (features) → primary assembly</a:t>
            </a:r>
          </a:p>
          <a:p>
            <a:r>
              <a:t>(LightGBM) → quality inspection (OligoFormer) → showroom (web app).</a:t>
            </a:r>
          </a:p>
          <a:p/>
          <a:p>
            <a:r>
              <a:t>TRANSITION: "The whole thing is only as good as its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"Garbage in, garbage out. So we use real data — measured in real labs."</a:t>
            </a:r>
          </a:p>
          <a:p/>
          <a:p>
            <a:r>
              <a:t>THREE BIG NUMBERS:</a:t>
            </a:r>
          </a:p>
          <a:p>
            <a:r>
              <a:t>- 25,763 modified siRNAs from HelixZero pharma patents (training cm-siRNA model).</a:t>
            </a:r>
          </a:p>
          <a:p>
            <a:r>
              <a:t>- 4,060 NAKED siRNAs from FOUR published lab datasets:</a:t>
            </a:r>
          </a:p>
          <a:p>
            <a:r>
              <a:t>    Huesken (Nature Biotech 2005, the gold standard) — 2,361 rows</a:t>
            </a:r>
          </a:p>
          <a:p>
            <a:r>
              <a:t>    Mix (Reynolds/Vickers/Ui-Tei combined) — 462 rows</a:t>
            </a:r>
          </a:p>
          <a:p>
            <a:r>
              <a:t>    Takayuki (NAR 2007) — 699 rows</a:t>
            </a:r>
          </a:p>
          <a:p>
            <a:r>
              <a:t>    Our existing HelixZero/siRNAmod unmodified — 538 rows</a:t>
            </a:r>
          </a:p>
          <a:p>
            <a:r>
              <a:t>- 4,097 entries in the OligoFormer seed-toxicity table (Janas et al., Mol Cell 2018).</a:t>
            </a:r>
          </a:p>
          <a:p/>
          <a:p>
            <a:r>
              <a:t>DARK CALLOUT: A previous version fell back to synthetic random data — useless. Real</a:t>
            </a:r>
          </a:p>
          <a:p>
            <a:r>
              <a:t>data is non-negotiable. We feed dataset SOURCE as a model feature so per-lab biases</a:t>
            </a:r>
          </a:p>
          <a:p>
            <a:r>
              <a:t>are learned, not averaged away. Result: naked PCC jumped from 0.32 to 0.42.</a:t>
            </a:r>
          </a:p>
          <a:p/>
          <a:p>
            <a:r>
              <a:t>ANALOGY: Training a self-driving car on dashcam from four different cities. Tell the</a:t>
            </a:r>
          </a:p>
          <a:p>
            <a:r>
              <a:t>model which city each clip came from — it learns the local rules instead of averaging</a:t>
            </a:r>
          </a:p>
          <a:p>
            <a:r>
              <a:t>into one confused driver.</a:t>
            </a:r>
          </a:p>
          <a:p/>
          <a:p>
            <a:r>
              <a:t>TRANSITION: "Real data still needs to become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"ML models can't read RNA letters. So we translate each siRNA into a</a:t>
            </a:r>
          </a:p>
          <a:p>
            <a:r>
              <a:t>152-number fingerprint."</a:t>
            </a:r>
          </a:p>
          <a:p/>
          <a:p>
            <a:r>
              <a:t>Walk the four cards:</a:t>
            </a:r>
          </a:p>
          <a:p>
            <a:r>
              <a:t>- 140 COMPOSITION numbers — how many of each base &amp; modification, both strands.</a:t>
            </a:r>
          </a:p>
          <a:p>
            <a:r>
              <a:t>- 8 POSITION numbers — WHERE mods sit. Position matters: seed region (pos 1–8) is sacred,</a:t>
            </a:r>
          </a:p>
          <a:p>
            <a:r>
              <a:t>  3' tail is forgiving.</a:t>
            </a:r>
          </a:p>
          <a:p>
            <a:r>
              <a:t>- 2 GC CONTENT numbers — duplex stability proxy.</a:t>
            </a:r>
          </a:p>
          <a:p>
            <a:r>
              <a:t>- 2 CONDITION numbers — dose &amp; time of the experiment. THE SECRET SAUCE.</a:t>
            </a:r>
          </a:p>
          <a:p/>
          <a:p>
            <a:r>
              <a:t>KEY INSIGHT (italic line): Same sequence shows different inhibition at 1 nM vs 100 nM.</a:t>
            </a:r>
          </a:p>
          <a:p>
            <a:r>
              <a:t>Ignoring that = model sees contradictions, learns badly. Feeding dose+time AS FEATURES =</a:t>
            </a:r>
          </a:p>
          <a:p>
            <a:r>
              <a:t>keep all 25k rows.</a:t>
            </a:r>
          </a:p>
          <a:p/>
          <a:p>
            <a:r>
              <a:t>ANALOGY: Predicting cricket runs — depends on batsman stats AND pitch conditions. We feed</a:t>
            </a:r>
          </a:p>
          <a:p>
            <a:r>
              <a:t>the pitch into the model.</a:t>
            </a:r>
          </a:p>
          <a:p/>
          <a:p>
            <a:r>
              <a:t>TRANSITION: "And the model itself — big choice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"When two independently-built models agree, you trust the answer more."</a:t>
            </a:r>
          </a:p>
          <a:p/>
          <a:p>
            <a:r>
              <a:t>LEFT CARD (OUR LightGBM, teal):</a:t>
            </a:r>
          </a:p>
          <a:p>
            <a:r>
              <a:t>- We built it. Trained on 25,763 modified + 4,060 naked siRNAs.</a:t>
            </a:r>
          </a:p>
          <a:p>
            <a:r>
              <a:t>- HANDLES chemical modifications — drives all three tabs.</a:t>
            </a:r>
          </a:p>
          <a:p>
            <a:r>
              <a:t>- Predicts % inhibition (regression).</a:t>
            </a:r>
          </a:p>
          <a:p>
            <a:r>
              <a:t>- Fast: 1,000 candidates in under 100 ms.</a:t>
            </a:r>
          </a:p>
          <a:p/>
          <a:p>
            <a:r>
              <a:t>RIGHT CARD (OligoFormer, mint):</a:t>
            </a:r>
          </a:p>
          <a:p>
            <a:r>
              <a:t>- Tsinghua University, Bai et al. 2024 — peer-reviewed transformer model.</a:t>
            </a:r>
          </a:p>
          <a:p>
            <a:r>
              <a:t>- Uses RNA-FM (a 1.1 GB foundation model) to embed sequences, then a small transformer</a:t>
            </a:r>
          </a:p>
          <a:p>
            <a:r>
              <a:t>  head predicts activity probability.</a:t>
            </a:r>
          </a:p>
          <a:p>
            <a:r>
              <a:t>- NAKED siRNA only — we use it as a second opinion on the Rank tab.</a:t>
            </a:r>
          </a:p>
          <a:p>
            <a:r>
              <a:t>- Slower: re-ranks our top 50 picks in about 11 seconds on CPU.</a:t>
            </a:r>
          </a:p>
          <a:p/>
          <a:p>
            <a:r>
              <a:t>THE ENSEMBLE STRIP (bottom): Because the two models output different scales</a:t>
            </a:r>
          </a:p>
          <a:p>
            <a:r>
              <a:t>(% inhibition vs activity probability), averaging raw scores would over-weight one.</a:t>
            </a:r>
          </a:p>
          <a:p>
            <a:r>
              <a:t>Instead we compute each candidate's PERCENTILE within the batch for each model, and</a:t>
            </a:r>
          </a:p>
          <a:p>
            <a:r>
              <a:t>average those. "Top 5% by both models" surfaces as ensemble ~95 — a real cross-</a:t>
            </a:r>
          </a:p>
          <a:p>
            <a:r>
              <a:t>validated pick. This is calibration-invariant by construction.</a:t>
            </a:r>
          </a:p>
          <a:p/>
          <a:p>
            <a:r>
              <a:t>ANALOGY: Like a startup hiring committee. Each interviewer ranks candidates 1-N from</a:t>
            </a:r>
          </a:p>
          <a:p>
            <a:r>
              <a:t>their own perspective. The hire isn't the highest average raw score — it's the</a:t>
            </a:r>
          </a:p>
          <a:p>
            <a:r>
              <a:t>candidate who's in the top decile for EVERY interviewer.</a:t>
            </a:r>
          </a:p>
          <a:p/>
          <a:p>
            <a:r>
              <a:t>TRANSITION: "But raw accuracy claims are easy to fake. We measured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"Different product features need different honesty tests."</a:t>
            </a:r>
          </a:p>
          <a:p/>
          <a:p>
            <a:r>
              <a:t>LEFT — GENE-GROUPED SPLIT: Held out 3 whole genes (AGT, MSTN, PLN). Model never saw them.</a:t>
            </a:r>
          </a:p>
          <a:p>
            <a:r>
              <a:t>Answers: "Can it predict a brand-new gene's best siRNA?" PCC = 0.26. Honestly hard.</a:t>
            </a:r>
          </a:p>
          <a:p>
            <a:r>
              <a:t>Used for the RANK tab.</a:t>
            </a:r>
          </a:p>
          <a:p/>
          <a:p>
            <a:r>
              <a:t>RIGHT — RANDOM SPLIT: standard 82/18. Answers: "Can it rank modifications of a known</a:t>
            </a:r>
          </a:p>
          <a:p>
            <a:r>
              <a:t>siRNA?" PCC = 0.68. The real job of SINGLE-MOD and MULTI-MOD tabs.</a:t>
            </a:r>
          </a:p>
          <a:p/>
          <a:p>
            <a:r>
              <a:t>WHY BOTH? With only 13 genes total, a naive split lets the model memorize gene-specific</a:t>
            </a:r>
          </a:p>
          <a:p>
            <a:r>
              <a:t>motifs → fake accuracy. Gene-grouped proves real generalization.</a:t>
            </a:r>
          </a:p>
          <a:p/>
          <a:p>
            <a:r>
              <a:t>ANALOGY: Chess engine — "beat opponents it's seen" (easy) vs "beat fresh opponents"</a:t>
            </a:r>
          </a:p>
          <a:p>
            <a:r>
              <a:t>(real test). We do both.</a:t>
            </a:r>
          </a:p>
          <a:p/>
          <a:p>
            <a:r>
              <a:t>TRANSITION: "So let's see the headline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Point at chart. "Red = paper-baseline SVR. Green = our LightGBM rebuild."</a:t>
            </a:r>
          </a:p>
          <a:p/>
          <a:p>
            <a:r>
              <a:t>TWO HEADLINE WINS:</a:t>
            </a:r>
          </a:p>
          <a:p>
            <a:r>
              <a:t>- Modification ranking (core task): 0.37 → 0.68 PCC. +84% relative gain.</a:t>
            </a:r>
          </a:p>
          <a:p>
            <a:r>
              <a:t>- Naked siRNA ranking: 0.21 → 0.42 PCC. +100% (doubled) — the OligoFormer dataset</a:t>
            </a:r>
          </a:p>
          <a:p>
            <a:r>
              <a:t>  merge is what pushed it over the top.</a:t>
            </a:r>
          </a:p>
          <a:p/>
          <a:p>
            <a:r>
              <a:t>BONUSES (on the right panel):</a:t>
            </a:r>
          </a:p>
          <a:p>
            <a:r>
              <a:t>- Predictions are now REAL inhibition % on 0–100 scale. Old code had a bug — min-max</a:t>
            </a:r>
          </a:p>
          <a:p>
            <a:r>
              <a:t>  rescaled every batch, so the "best of any batch" always showed 100. Meaningless.</a:t>
            </a:r>
          </a:p>
          <a:p>
            <a:r>
              <a:t>- MAE on cm-siRNA is 16.5 percentage points — approaching the experimental noise floor</a:t>
            </a:r>
          </a:p>
          <a:p>
            <a:r>
              <a:t>  of the underlying assays themselves (~10-15 pts between labs).</a:t>
            </a:r>
          </a:p>
          <a:p/>
          <a:p>
            <a:r>
              <a:t>ANALOGY: Old system = exam graded on a curve (top of any room got 100 even if everyone</a:t>
            </a:r>
          </a:p>
          <a:p>
            <a:r>
              <a:t>failed in absolute terms). New system = true scores you can compare across batches.</a:t>
            </a:r>
          </a:p>
          <a:p/>
          <a:p>
            <a:r>
              <a:t>TRANSITION: "These predictions live inside a working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"It's not a research notebook. It's a working web app with four tabs and</a:t>
            </a:r>
          </a:p>
          <a:p>
            <a:r>
              <a:t>two safety filters baked in."</a:t>
            </a:r>
          </a:p>
          <a:p/>
          <a:p>
            <a:r>
              <a:t>Each tab solves one job: Rank, Single-Mod Scan, Multi-Mod Design, Modifications</a:t>
            </a:r>
          </a:p>
          <a:p>
            <a:r>
              <a:t>reference. Single HTML file + FastAPI backend over HTTP. No build step, no</a:t>
            </a:r>
          </a:p>
          <a:p>
            <a:r>
              <a:t>dependencies. Browser-only, results in seconds.</a:t>
            </a:r>
          </a:p>
          <a:p/>
          <a:p>
            <a:r>
              <a:t>NEW FEATURES (this week):</a:t>
            </a:r>
          </a:p>
          <a:p>
            <a:r>
              <a:t>- Toggle: "Re-rank top 50 with OligoFormer" on the Rank tab — adds an Ensemble %ile column.</a:t>
            </a:r>
          </a:p>
          <a:p>
            <a:r>
              <a:t>- Seed Toxicity column on EVERY tab — Safe / Caution / Toxic with cell-viability %.</a:t>
            </a:r>
          </a:p>
          <a:p>
            <a:r>
              <a:t>- MODIFICATION-AWARE TOXICITY — if a known rescuing modification (2'-OMe, 2'-F, LNA,</a:t>
            </a:r>
          </a:p>
          <a:p>
            <a:r>
              <a:t>  2'-MOE) sits in the seed region of a modified candidate, the badge flips to</a:t>
            </a:r>
          </a:p>
          <a:p>
            <a:r>
              <a:t>  "Mitigated" with a tooltip explaining the rescue. Real published biology in a UI.</a:t>
            </a:r>
          </a:p>
          <a:p/>
          <a:p>
            <a:r>
              <a:t>DEMO RESULT (bottom): Paste gene → Modify → Scan. The model finds 2'-MOE at antisense</a:t>
            </a:r>
          </a:p>
          <a:p>
            <a:r>
              <a:t>pos 8 (+10.6 efficacy) AND 2'-OMe at antisense pos 2 RESCUES a toxic seed → Mitigated.</a:t>
            </a:r>
          </a:p>
          <a:p>
            <a:r>
              <a:t>That's the kind of insight that saves wet-lab months.</a:t>
            </a:r>
          </a:p>
          <a:p/>
          <a:p>
            <a:r>
              <a:t>ANALOGY: Excel + a second opinion from a domain expert. Data in, both models crunch,</a:t>
            </a:r>
          </a:p>
          <a:p>
            <a:r>
              <a:t>ensemble percentiles out, with safety annotations a chemist actually trusts.</a:t>
            </a:r>
          </a:p>
          <a:p/>
          <a:p>
            <a:r>
              <a:t>TRANSITION: "Why does this matter outside this room?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"siRNA drugs aren't theoretical anymore."</a:t>
            </a:r>
          </a:p>
          <a:p/>
          <a:p>
            <a:r>
              <a:t>Three FDA-approved siRNA drugs saving lives today:</a:t>
            </a:r>
          </a:p>
          <a:p>
            <a:r>
              <a:t>- PATISIRAN — rare nerve disease.</a:t>
            </a:r>
          </a:p>
          <a:p>
            <a:r>
              <a:t>- INCLISIRAN — lowers cholesterol via PCSK9 gene silencing. Millions of patients.</a:t>
            </a:r>
          </a:p>
          <a:p>
            <a:r>
              <a:t>- GIVOSIRAN — porphyria.</a:t>
            </a:r>
          </a:p>
          <a:p>
            <a:r>
              <a:t>EVERY ONE needed exactly the modification-optimization SMEpred predicts. Without it,</a:t>
            </a:r>
          </a:p>
          <a:p>
            <a:r>
              <a:t>they took years and hundreds of millions of dollars to design.</a:t>
            </a:r>
          </a:p>
          <a:p/>
          <a:p>
            <a:r>
              <a:t>Three concrete impacts: fewer wet-lab experiments per candidate, faster discovery, lower</a:t>
            </a:r>
          </a:p>
          <a:p>
            <a:r>
              <a:t>cost per drug program.</a:t>
            </a:r>
          </a:p>
          <a:p/>
          <a:p>
            <a:r>
              <a:t>ANALOGY: Like CAD software for civil engineers — you don't build the bridge to test if</a:t>
            </a:r>
          </a:p>
          <a:p>
            <a:r>
              <a:t>it stands. You simulate. SMEpred is CAD for siRNA drugs.</a:t>
            </a:r>
          </a:p>
          <a:p/>
          <a:p>
            <a:r>
              <a:t>TRANSITION: "Quickly — the toolkit behind all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"Everything is mainstream open-source Python — two ML stacks under one app."</a:t>
            </a:r>
          </a:p>
          <a:p/>
          <a:p>
            <a:r>
              <a:t>- ML (our model): LightGBM, scikit-learn, SciPy, NumPy.</a:t>
            </a:r>
          </a:p>
          <a:p>
            <a:r>
              <a:t>- ML (ensemble): PyTorch 2.12 (CPU), vendored OligoFormer + RNA-FM (Tsinghua).</a:t>
            </a:r>
          </a:p>
          <a:p>
            <a:r>
              <a:t>  The 1.1 GB RNA-FM checkpoint loads once at first /rank call with the toggle on.</a:t>
            </a:r>
          </a:p>
          <a:p>
            <a:r>
              <a:t>- Data: pandas + custom HelixZero/siRNAmod/OligoFormer catalog parsers.</a:t>
            </a:r>
          </a:p>
          <a:p>
            <a:r>
              <a:t>- Backend: FastAPI on Uvicorn — async, auto-Swagger at /docs.</a:t>
            </a:r>
          </a:p>
          <a:p>
            <a:r>
              <a:t>- Frontend: single HTML file + vanilla JavaScript. Zero build pipeline.</a:t>
            </a:r>
          </a:p>
          <a:p>
            <a:r>
              <a:t>- Quality: 19 unit tests, seeded reproducibility (metrics reproduce exactly).</a:t>
            </a:r>
          </a:p>
          <a:p/>
          <a:p>
            <a:r>
              <a:t>VENDORING NOTE: We DON'T depend on the external OligoFormer folder. We copied only the</a:t>
            </a:r>
          </a:p>
          <a:p>
            <a:r>
              <a:t>~1.1 GB of files we actually use into smepred/vendor/ and smepred/models/. The original</a:t>
            </a:r>
          </a:p>
          <a:p>
            <a:r>
              <a:t>3.9 GB OligoFormer repo can be deleted.</a:t>
            </a:r>
          </a:p>
          <a:p/>
          <a:p>
            <a:r>
              <a:t>ANALOGY: Same stack any modern AI startup uses. Not exotic. Production-grade.</a:t>
            </a:r>
          </a:p>
          <a:p/>
          <a:p>
            <a:r>
              <a:t>TRANSITION: "Let me close with the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OPENER: Read the title. "From a gene to a drug candidate — in seconds."</a:t>
            </a:r>
          </a:p>
          <a:p/>
          <a:p>
            <a:r>
              <a:t>Three takeaways:</a:t>
            </a:r>
          </a:p>
          <a:p>
            <a:r>
              <a:t>1. Predicts BOTH naked and modified siRNA efficacy with built-in seed-toxicity AND</a:t>
            </a:r>
          </a:p>
          <a:p>
            <a:r>
              <a:t>   modification-aware off-target rescue checks (Mitigated badges).</a:t>
            </a:r>
          </a:p>
          <a:p>
            <a:r>
              <a:t>2. Accuracy:</a:t>
            </a:r>
          </a:p>
          <a:p>
            <a:r>
              <a:t>     Modification ranking: 0.37 → 0.68 PCC (+84%)</a:t>
            </a:r>
          </a:p>
          <a:p>
            <a:r>
              <a:t>     Naked siRNA ranking:  0.21 → 0.42 PCC (+100%) — the OligoFormer dataset merge.</a:t>
            </a:r>
          </a:p>
          <a:p>
            <a:r>
              <a:t>3. Two ML models ensemble (our LightGBM + the OligoFormer transformer), wrapped in a</a:t>
            </a:r>
          </a:p>
          <a:p>
            <a:r>
              <a:t>   clean web app any researcher can use immediately.</a:t>
            </a:r>
          </a:p>
          <a:p/>
          <a:p>
            <a:r>
              <a:t>NEXT: more diverse target genes for the Rank tab. Wet-lab validation of SMEpred's top</a:t>
            </a:r>
          </a:p>
          <a:p>
            <a:r>
              <a:t>picks — turn a software prediction into a confirmed lab result. Add the off-target</a:t>
            </a:r>
          </a:p>
          <a:p>
            <a:r>
              <a:t>PITA/TargetScan filters from OligoFormer's pipeline as a third safety check.</a:t>
            </a:r>
          </a:p>
          <a:p/>
          <a:p>
            <a:r>
              <a:t>CLOSE: "Thank you. I'm happy to take questions — about the biology, the model, or the</a:t>
            </a:r>
          </a:p>
          <a:p>
            <a:r>
              <a:t>engineering."</a:t>
            </a:r>
          </a:p>
          <a:p/>
          <a:p>
            <a:r>
              <a:t>LIKELY Q&amp;A:</a:t>
            </a:r>
          </a:p>
          <a:p>
            <a:r>
              <a:t>- Why not just use OligoFormer directly? It only handles naked siRNA. We need</a:t>
            </a:r>
          </a:p>
          <a:p>
            <a:r>
              <a:t>  chemical-modification support for real drug design.</a:t>
            </a:r>
          </a:p>
          <a:p>
            <a:r>
              <a:t>- Why is the OligoFormer score so much higher than yours? Different scales (probability</a:t>
            </a:r>
          </a:p>
          <a:p>
            <a:r>
              <a:t>  vs % inhibition). That's why we use PERCENTILE-RANK ensemble — calibration-invariant.</a:t>
            </a:r>
          </a:p>
          <a:p>
            <a:r>
              <a:t>- What does "Mitigated" mean? The seed lookup says "Toxic" but a known off-target</a:t>
            </a:r>
          </a:p>
          <a:p>
            <a:r>
              <a:t>  rescue modification (2'-OMe, 2'-F, LNA, 2'-MOE) sits in pos 2-7 of the antisense.</a:t>
            </a:r>
          </a:p>
          <a:p>
            <a:r>
              <a:t>  Established biology (Jackson et al., RNA 2006).</a:t>
            </a:r>
          </a:p>
          <a:p>
            <a:r>
              <a:t>- Is 0.68 PCC good? The paper claimed 0.80 on a smaller curated set; ours is on a much</a:t>
            </a:r>
          </a:p>
          <a:p>
            <a:r>
              <a:t>  larger messier real-world catalog with honest gene-grouped evaluation.</a:t>
            </a:r>
          </a:p>
          <a:p>
            <a:r>
              <a:t>- Biggest limitation? Only 13 target genes in the cm-siRNA training set — need more</a:t>
            </a:r>
          </a:p>
          <a:p>
            <a:r>
              <a:t>  diversity for the new-gene Rank use case.</a:t>
            </a:r>
          </a:p>
          <a:p>
            <a:r>
              <a:t>- Wet-lab ready? For shortlisting yes (top 10 instead of 1,260 modifications, and the</a:t>
            </a:r>
          </a:p>
          <a:p>
            <a:r>
              <a:t>  ones flagged Toxic OR func-fail get auto-dropped). For final go/no-go, still needs</a:t>
            </a:r>
          </a:p>
          <a:p>
            <a:r>
              <a:t>  experimental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572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5720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0808881" y="8961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10953839" y="89611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0839891" y="133502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922829" y="13350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10488680" y="177393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11274040" y="17739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078150" y="221284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1684570" y="22128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9985740" y="265176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76980" y="26517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96411" y="30906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66309" y="30906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24534" y="35295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38186" y="352958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76495" y="39684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6225" y="39684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12581" y="44074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50139" y="44074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75434" y="48463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87286" y="48463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9966964" y="52852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95756" y="528523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78839" y="572414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83881" y="572414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16260" y="61630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6460" y="61630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1737360"/>
            <a:ext cx="1371600" cy="137160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075688"/>
            <a:ext cx="694944" cy="69494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31520" y="3291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SMEpred</a:t>
            </a:r>
            <a:endParaRPr lang="en-US" sz="6000" dirty="0"/>
          </a:p>
        </p:txBody>
      </p:sp>
      <p:sp>
        <p:nvSpPr>
          <p:cNvPr id="33" name="Text 30"/>
          <p:cNvSpPr/>
          <p:nvPr/>
        </p:nvSpPr>
        <p:spPr>
          <a:xfrm>
            <a:off x="77724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siRNA Efficacy &amp; Chemical-Modification Predictor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7724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which gene-silencing drugs will work — before the lab.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Pune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most diseases start with a faulty gene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675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63040"/>
            <a:ext cx="91440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276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Genes → proteins → disease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02996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faulty gene makes a harmful protein. Cancer, high cholesterol, viral infections — many trace back to one over-active gene.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6675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971800"/>
            <a:ext cx="91440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1363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siRNA can switch it off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353872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interfering RNA is a 21-letter molecule that tells the cell to destroy a specific gene's message (mRNA). A programmable 'off-switch'.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480560"/>
            <a:ext cx="6675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4480560"/>
            <a:ext cx="91440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6451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raw siRNA fails as a drug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504748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in blood shred it in minutes, it triggers immune alarms, and never reaches the target. It needs chemical armor.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589520" y="1463040"/>
            <a:ext cx="4023360" cy="4572000"/>
          </a:xfrm>
          <a:prstGeom prst="rect">
            <a:avLst/>
          </a:prstGeom>
          <a:solidFill>
            <a:srgbClr val="0B2239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86384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expensive bottleneck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86384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63840" y="2743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1,260</a:t>
            </a:r>
            <a:endParaRPr lang="en-US" sz="5400" dirty="0"/>
          </a:p>
        </p:txBody>
      </p:sp>
      <p:sp>
        <p:nvSpPr>
          <p:cNvPr id="22" name="Text 19"/>
          <p:cNvSpPr/>
          <p:nvPr/>
        </p:nvSpPr>
        <p:spPr>
          <a:xfrm>
            <a:off x="786384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chemical modifications for a single siRNA.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63840" y="4389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each one in a lab costs time &amp; money. SMEpred predicts the winners first.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like a guided missile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0" y="1828800"/>
            <a:ext cx="960120" cy="96012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208483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guide strand = GPS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3657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antisense strand is the targeting system. It finds the exact mRNA to destroy, ignoring the other 20,000 genes.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43400" y="15544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23560" y="1828800"/>
            <a:ext cx="960120" cy="96012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08483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Modifications = armor plating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17720" y="3657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tweaks (2'-F, 2'-OMe...) protect the missile from being destroyed mid-flight by enzymes.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38160" y="15544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418320" y="1828800"/>
            <a:ext cx="960120" cy="9601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2" y="208483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6676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SMEpred = the war-room simulator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412480" y="3657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build 1,260 missiles, the simulator predicts which armor design hits the target hardest.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build 1,260 prototypes. Simulate them, then build the best 3."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23" name="Text 17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SMEpred does, in one breath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0E5A82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91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a gene. It finds every possible siRNA, predicts how well each silences the gene, then for your chosen one it predicts which chemical modification makes the best drug. Two ML models (our LightGBM + OligoFormer transformer) ensemble for cross-validated picks, with built-in toxicity &amp; off-target safety filters.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5349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200400"/>
            <a:ext cx="53492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5204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7673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611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Naked efficacy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14400" y="4572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the unmodified siRNA silence the gene? (Rank tab)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63640" y="3200400"/>
            <a:ext cx="5349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3200400"/>
            <a:ext cx="534924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Shape 12"/>
          <p:cNvSpPr/>
          <p:nvPr/>
        </p:nvSpPr>
        <p:spPr>
          <a:xfrm>
            <a:off x="6583680" y="352044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376732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35240" y="3611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Modified efficacy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629400" y="4572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a chemical modification improve or hurt it? (Single &amp; Multi-Mod tabs)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workflow, start to finish (a funnel)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20116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17320" y="22402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141732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a gene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/ gene sequence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15468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10712" y="20116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5112" y="2240280"/>
            <a:ext cx="777240" cy="777240"/>
          </a:xfrm>
          <a:prstGeom prst="ellipse">
            <a:avLst/>
          </a:prstGeom>
          <a:solidFill>
            <a:srgbClr val="0E5A82"/>
          </a:solidFill>
          <a:ln/>
        </p:spPr>
      </p:sp>
      <p:sp>
        <p:nvSpPr>
          <p:cNvPr id="14" name="Text 10"/>
          <p:cNvSpPr/>
          <p:nvPr/>
        </p:nvSpPr>
        <p:spPr>
          <a:xfrm>
            <a:off x="4325112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547872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93592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21-mer siRNA → pick the best naked candidate</a:t>
            </a:r>
            <a:endParaRPr lang="en-US" sz="11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154680"/>
            <a:ext cx="292608" cy="29260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18504" y="20116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32904" y="22402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5"/>
          <p:cNvSpPr/>
          <p:nvPr/>
        </p:nvSpPr>
        <p:spPr>
          <a:xfrm>
            <a:off x="7232904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455664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SINGLE-MOD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501384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1,260 modifications → find the best single tweak</a:t>
            </a:r>
            <a:endParaRPr lang="en-US" sz="11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3154680"/>
            <a:ext cx="292608" cy="29260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226296" y="20116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40696" y="22402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0"/>
          <p:cNvSpPr/>
          <p:nvPr/>
        </p:nvSpPr>
        <p:spPr>
          <a:xfrm>
            <a:off x="10140696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363456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409176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 final custom drug design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2920" y="5029200"/>
            <a:ext cx="11109960" cy="960120"/>
          </a:xfrm>
          <a:prstGeom prst="rect">
            <a:avLst/>
          </a:prstGeom>
          <a:solidFill>
            <a:srgbClr val="0B2239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22960" y="50292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we shipped: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ranked result now has a </a:t>
            </a:r>
            <a:pPr indent="0" marL="0">
              <a:buNone/>
            </a:pPr>
            <a:r>
              <a:rPr lang="en-US" sz="14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"Modify →"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button that auto-fills the next stage — no re-typing sequences.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32" name="Text 26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(end-to-end)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210312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23774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606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3337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37490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HelixZero 43k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Huesken/Mix/Taka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clean · dedup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246120"/>
            <a:ext cx="201168" cy="2011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743200" y="210312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383280" y="2377440"/>
            <a:ext cx="822960" cy="82296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60604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834640" y="3337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2880360" y="37490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152-d vector: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· position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assay condition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246120"/>
            <a:ext cx="201168" cy="20116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074920" y="210312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5715000" y="23774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60604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66360" y="3337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5212080" y="37490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inhibition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3246120"/>
            <a:ext cx="201168" cy="20116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406640" y="210312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8046720" y="2377440"/>
            <a:ext cx="822960" cy="82296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2606040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98080" y="3337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7543800" y="37490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OligoFormer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+RNA-FM (re-rank)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3246120"/>
            <a:ext cx="201168" cy="201168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738360" y="2103120"/>
            <a:ext cx="2148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378440" y="23774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0" y="2606040"/>
            <a:ext cx="365760" cy="36576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829800" y="3337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</a:t>
            </a:r>
            <a:endParaRPr lang="en-US" sz="1600" dirty="0"/>
          </a:p>
        </p:txBody>
      </p:sp>
      <p:sp>
        <p:nvSpPr>
          <p:cNvPr id="34" name="Text 22"/>
          <p:cNvSpPr/>
          <p:nvPr/>
        </p:nvSpPr>
        <p:spPr>
          <a:xfrm>
            <a:off x="9875520" y="37490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in seconds</a:t>
            </a:r>
            <a:endParaRPr lang="en-US" sz="1100" dirty="0"/>
          </a:p>
        </p:txBody>
      </p:sp>
      <p:sp>
        <p:nvSpPr>
          <p:cNvPr id="35" name="Text 23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·  LightGBM · PyTorch (OligoFormer + RNA-FM) · scikit-learn · pandas  ·  FastAPI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37" name="Text 25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data — not synthetic guesses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783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25,763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siRNAs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(HelixZero patent catalog)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07992" y="1783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4,060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4553712" y="2606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naked siRNAs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(Huesken + Mix + Taka + ours)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01584" y="1600200"/>
            <a:ext cx="3520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84464" y="17830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4,097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8330184" y="2606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seed-toxicity entries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(OligoFormer Janas et al.)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794760"/>
            <a:ext cx="11064240" cy="2240280"/>
          </a:xfrm>
          <a:prstGeom prst="rect">
            <a:avLst/>
          </a:prstGeom>
          <a:solidFill>
            <a:srgbClr val="0B2239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86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real, multi-source data wins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68680" y="44805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siRNAs: 25,763 experimentally measured % inhibitions from pharma patents.  Naked siRNAs: 4,060 from four published lab datasets including Huesken (the field's gold standard). 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feed dataset SOURCE as a model feature so per-lab biases are learned, not averaged away. Result: naked PCC jumped from 0.32 → 0.42 after the multi-source merge.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RNA letters into numbers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model needs numbers. Each siRNA becomes one 152-number fingerprint: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258568"/>
            <a:ext cx="822960" cy="822960"/>
          </a:xfrm>
          <a:prstGeom prst="ellipse">
            <a:avLst/>
          </a:prstGeom>
          <a:solidFill>
            <a:srgbClr val="0E5A8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258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83080" y="2167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83080" y="2532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each base &amp; modification on both strands (base + modified)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96596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5080" y="2258568"/>
            <a:ext cx="822960" cy="822960"/>
          </a:xfrm>
          <a:prstGeom prst="ellipse">
            <a:avLst/>
          </a:prstGeom>
          <a:solidFill>
            <a:srgbClr val="0E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22585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60920" y="2167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density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60920" y="2532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mods sit: seed region (pos 1–8), 3' tail, overall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52044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3813048"/>
            <a:ext cx="822960" cy="822960"/>
          </a:xfrm>
          <a:prstGeom prst="ellipse">
            <a:avLst/>
          </a:prstGeom>
          <a:solidFill>
            <a:srgbClr val="0E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8130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783080" y="3721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 content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83080" y="40873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stability proxy for each strand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26480" y="352044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55080" y="3813048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6355080" y="38130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360920" y="3721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Assay condition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60920" y="40873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(nM) &amp; time (h) — the hidden confound, now a feature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0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algn="ctr" indent="0" marL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sequence shows different inhibition at 1 nM vs 100 nM. Feeding dose+time as features let us keep ALL the data instead of throwing it away.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IN SILICO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models, one verdict — ensemble re-ranking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00200"/>
            <a:ext cx="534924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002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LightGBM (this project)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2677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25,763 modified + 4,060 naked siRNAs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4378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27797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chemical modifications (the cm-siRNA tabs)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5584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3291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% inhibition directly (regression)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6791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5568" y="38039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scores 1,000 candidates in &lt;100 ms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6263640" y="1600200"/>
            <a:ext cx="5349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6263640" y="1600200"/>
            <a:ext cx="534924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2"/>
          <p:cNvSpPr/>
          <p:nvPr/>
        </p:nvSpPr>
        <p:spPr>
          <a:xfrm>
            <a:off x="6263640" y="16002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OligoFormer (Bai et al., Tsinghua 2024)</a:t>
            </a:r>
            <a:endParaRPr lang="en-US" sz="1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331720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30568" y="22677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RNA-FM foundation model (1.1 GB)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843784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30568" y="27797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Naked siRNA only (no modification support)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355848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30568" y="3291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activity probability (deep learning)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867912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830568" y="38039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Slower: re-ranks the top-50 from LightGBM (~11 s)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solidFill>
            <a:srgbClr val="0B2239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29" name="Text 18"/>
          <p:cNvSpPr/>
          <p:nvPr/>
        </p:nvSpPr>
        <p:spPr>
          <a:xfrm>
            <a:off x="86868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= within-batch percentile-rank average</a:t>
            </a:r>
            <a:endParaRPr lang="en-US" sz="1600" dirty="0"/>
          </a:p>
        </p:txBody>
      </p:sp>
      <p:sp>
        <p:nvSpPr>
          <p:cNvPr id="30" name="Text 19"/>
          <p:cNvSpPr/>
          <p:nvPr/>
        </p:nvSpPr>
        <p:spPr>
          <a:xfrm>
            <a:off x="86868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models score on different scales (% inhibition vs activity probability). Averaging raw scores would over-weight one; </a:t>
            </a:r>
            <a:pPr indent="0" marL="0">
              <a:buNone/>
            </a:pPr>
            <a:r>
              <a:rPr lang="en-US" sz="125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each model's percentile within the batch is calibration-invariant — "top 5% by both" surfaces real cross-validated picks.</a:t>
            </a:r>
            <a:endParaRPr lang="en-US" sz="1250" dirty="0"/>
          </a:p>
        </p:txBody>
      </p:sp>
      <p:sp>
        <p:nvSpPr>
          <p:cNvPr id="31" name="Shape 2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32" name="Text 21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VALIDATION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honestly — two different tests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00200"/>
            <a:ext cx="109728" cy="3108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Gene-grouped split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212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it predict a brand-new gene?"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target genes (AGT, MSTN, PLN) held out — the model never saw them in training. The honest hard test. Used for the Rank tab.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PCC </a:t>
            </a:r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0.26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349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00200"/>
            <a:ext cx="109728" cy="3108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split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2212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it rank modifications of a known siRNA?"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58368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job of the Single/Multi-Mod tabs — compare chemical variants of a sequence you already have.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PCC </a:t>
            </a:r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983480"/>
            <a:ext cx="11064240" cy="1005840"/>
          </a:xfrm>
          <a:prstGeom prst="rect">
            <a:avLst/>
          </a:prstGeom>
          <a:solidFill>
            <a:srgbClr val="0B2239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8680" y="4983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tests?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13 genes, a naive split lets the model memorise gene-specific motifs and report fake accuracy. Holding out whole genes proves real generalisation.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nearly doubled accuracy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55448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955280" y="1737360"/>
            <a:ext cx="3657600" cy="4023360"/>
          </a:xfrm>
          <a:prstGeom prst="rect">
            <a:avLst/>
          </a:prstGeom>
          <a:solidFill>
            <a:srgbClr val="0E5A82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138160" y="1874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+84%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813816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ranking (0.37 → 0.68)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13816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B8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+100%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8138160" y="4069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naked siRNA (0.21 → 0.42)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merging Huesken + Mix + Taka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38160" y="5074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on cm-siRNA: 16.5 pts ·  approaching the noise floor.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web app, not just a notebook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212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554480"/>
            <a:ext cx="109728" cy="14447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92024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11226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19072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siRNAs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19072" y="21214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gene → ranked table of the best naked siRNA candidates with efficacy scores.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554480"/>
            <a:ext cx="5212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126480" y="1554480"/>
            <a:ext cx="109728" cy="14447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0"/>
          <p:cNvSpPr/>
          <p:nvPr/>
        </p:nvSpPr>
        <p:spPr>
          <a:xfrm>
            <a:off x="6419088" y="1920240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11226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96912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Single-Mod Scan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296912" y="21214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siRNA → all 1,260 modifications ranked, each with its gain/loss vs the original (Δ score).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182112"/>
            <a:ext cx="5212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182112"/>
            <a:ext cx="109728" cy="14447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354787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73989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19072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 Design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19072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custom modified drug → get its predicted efficacy instantly.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126480" y="3182112"/>
            <a:ext cx="5212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126480" y="3182112"/>
            <a:ext cx="109728" cy="14447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Shape 20"/>
          <p:cNvSpPr/>
          <p:nvPr/>
        </p:nvSpPr>
        <p:spPr>
          <a:xfrm>
            <a:off x="6419088" y="3547872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73989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96912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Modifications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296912" y="3749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of all 30 chemical modification symbols — click to copy.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4937760"/>
            <a:ext cx="11064240" cy="1051560"/>
          </a:xfrm>
          <a:prstGeom prst="rect">
            <a:avLst/>
          </a:prstGeom>
          <a:solidFill>
            <a:srgbClr val="0B2239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68680" y="49377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result: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→ "Modify →" → Scan picks 2'-MOE @ antisense pos 8 → +10.6 efficacy. The same scan finds 2'-OMe @ pos 2 </a:t>
            </a:r>
            <a:pPr indent="0" marL="0">
              <a:buNone/>
            </a:pPr>
            <a:r>
              <a:rPr lang="en-US" sz="13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rescues a Toxic seed → Mitigated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kind of insight that saves wet-lab months.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33" name="Text 26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already changing medicine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0E5A82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91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siRNA drugs are real and FDA-approved.  </a:t>
            </a:r>
            <a:pPr indent="0" marL="0">
              <a:buNone/>
            </a:pPr>
            <a:r>
              <a:rPr lang="en-US" sz="14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Patisiran (rare nerve disease), Inclisiran (lowers cholesterol via the PCSK9 gene), Givosiran — all are chemically-modified siRNAs. Every one needed exactly the modification-optimisation SMEpred predicts.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520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47088" y="35661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76" y="381304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4617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lab experiments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22960" y="5074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1,260 designs in silico; test only the top few in the wet lab.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25112" y="3291840"/>
            <a:ext cx="3520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23560" y="35661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81304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53712" y="4617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drug discovery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99432" y="5074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months off the design-test-repeat cycle for new gene targets.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01584" y="3291840"/>
            <a:ext cx="3520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400032" y="35661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81304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30184" y="4617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cost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375904" y="5074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avoided synthesis &amp; assay saves significant time and money.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24" name="Text 18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toolkit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86000"/>
            <a:ext cx="731520" cy="73152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871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— own model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691640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scikit-learn · SciPy · NumPy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25112" y="178308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9432" y="2286000"/>
            <a:ext cx="731520" cy="73152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4871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68112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— ensemble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468112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OligoFormer + RNA-FM (vendored)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01584" y="178308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75904" y="2286000"/>
            <a:ext cx="731520" cy="73152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48716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44584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244584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custom catalog parsers · joblib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74904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4251960"/>
            <a:ext cx="731520" cy="73152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45312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/ API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69164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· Pydantic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325112" y="374904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99432" y="4251960"/>
            <a:ext cx="731520" cy="73152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45312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68112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5468112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· vanilla JS (fetch)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01584" y="3749040"/>
            <a:ext cx="3520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239">
                <a:alpha val="1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75904" y="4251960"/>
            <a:ext cx="731520" cy="731520"/>
          </a:xfrm>
          <a:prstGeom prst="ellipse">
            <a:avLst/>
          </a:prstGeom>
          <a:solidFill>
            <a:srgbClr val="0E5A8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453128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44584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9244584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unit tests · seeded reproducibility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B2239"/>
          </a:solidFill>
          <a:ln/>
        </p:spPr>
      </p:sp>
      <p:sp>
        <p:nvSpPr>
          <p:cNvPr id="37" name="Text 28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SMEpred  ·  siRNA Efficacy Predictor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804672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   ·   CDAC Pune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353312" y="3657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2340864" y="365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3328416" y="3657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4315968" y="365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0" y="3657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6291072" y="365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7278624" y="3657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8266176" y="365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9253728" y="3657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365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28832" y="3657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7160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1673352"/>
            <a:ext cx="585216" cy="5852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7240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gene to a drug candidate — in seconds.</a:t>
            </a:r>
            <a:endParaRPr lang="en-US" sz="3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86200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BOTH naked and modified siRNA efficacy with built-in toxicity &amp; off-target safety filters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5312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4407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PCC 0.37 → 0.68 (+84%) · Naked PCC 0.21 → 0.42 (+100%) — both via real published data</a:t>
            </a:r>
            <a:endParaRPr lang="en-US" sz="1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97433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models ensemble: our LightGBM + the OligoFormer transformer, cross-validated picks in one click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more target genes to lift new-gene accuracy  ·  experimental wet-lab validation of top picks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724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—  C-DAC Pune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SMEpred — AI siRNA Efficacy Predictor</dc:title>
  <dc:subject>PptxGenJS Presentation</dc:subject>
  <dc:creator>SMEpred</dc:creator>
  <cp:lastModifiedBy>SMEpred</cp:lastModifiedBy>
  <cp:revision>1</cp:revision>
  <dcterms:created xsi:type="dcterms:W3CDTF">2026-05-30T05:57:43Z</dcterms:created>
  <dcterms:modified xsi:type="dcterms:W3CDTF">2026-05-30T05:57:43Z</dcterms:modified>
</cp:coreProperties>
</file>